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65" r:id="rId3"/>
    <p:sldId id="257" r:id="rId4"/>
    <p:sldId id="258" r:id="rId5"/>
    <p:sldId id="267" r:id="rId6"/>
    <p:sldId id="268" r:id="rId7"/>
    <p:sldId id="259" r:id="rId8"/>
    <p:sldId id="260" r:id="rId9"/>
    <p:sldId id="280" r:id="rId10"/>
    <p:sldId id="266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61" r:id="rId23"/>
    <p:sldId id="262" r:id="rId24"/>
    <p:sldId id="26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7" autoAdjust="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68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799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310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7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83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03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4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12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01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58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97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203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26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471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1012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375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228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PK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50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Machine Learning teaches machines to learn from data and make decisions with minimal human intervention.</a:t>
            </a:r>
          </a:p>
          <a:p>
            <a:endParaRPr dirty="0"/>
          </a:p>
          <a:p>
            <a:r>
              <a:rPr dirty="0"/>
              <a:t>Examples:</a:t>
            </a:r>
          </a:p>
          <a:p>
            <a:r>
              <a:rPr dirty="0"/>
              <a:t>Face unlock on phones</a:t>
            </a:r>
          </a:p>
          <a:p>
            <a:r>
              <a:rPr dirty="0"/>
              <a:t>Friend &amp; ad recommendations</a:t>
            </a:r>
          </a:p>
          <a:p>
            <a:r>
              <a:rPr dirty="0"/>
              <a:t>Product suggestions</a:t>
            </a:r>
          </a:p>
          <a:p>
            <a:r>
              <a:rPr dirty="0"/>
              <a:t>Fraud detection in banking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Real 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888" y="2490135"/>
            <a:ext cx="7627434" cy="34449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Machine learning is so extensive that you probably use it numerous times a day without even knowing it. </a:t>
            </a:r>
          </a:p>
          <a:p>
            <a:r>
              <a:rPr lang="en-US" dirty="0"/>
              <a:t>Smartphones detecting faces while taking photos or unlocking themselves</a:t>
            </a:r>
          </a:p>
          <a:p>
            <a:r>
              <a:rPr lang="en-US" dirty="0"/>
              <a:t>Facebook, LinkedIn or any other social media site recommending your friends and ads you might be interested in</a:t>
            </a:r>
          </a:p>
          <a:p>
            <a:r>
              <a:rPr lang="en-US" dirty="0"/>
              <a:t>Amazon recommending you the products based on your browsing history</a:t>
            </a:r>
          </a:p>
          <a:p>
            <a:r>
              <a:rPr lang="en-US" dirty="0"/>
              <a:t>Banks using Machine Learning to detect Fraud transactions in real-time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90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Types of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1. Supervised Learning: Input + known output → predict output</a:t>
            </a:r>
          </a:p>
          <a:p>
            <a:r>
              <a:rPr dirty="0"/>
              <a:t>   - Regression (numbers)</a:t>
            </a:r>
          </a:p>
          <a:p>
            <a:r>
              <a:rPr dirty="0"/>
              <a:t>   - Classification (categories)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2. Unsupervised Learning: No labels, find structure</a:t>
            </a:r>
          </a:p>
          <a:p>
            <a:r>
              <a:rPr dirty="0"/>
              <a:t>   - Clustering</a:t>
            </a:r>
          </a:p>
          <a:p>
            <a:r>
              <a:rPr dirty="0"/>
              <a:t>   - Dimensionality Reduction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3. Reinforcement Learning: Learn by reward/punishment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1. Linear Regression — Straight line fit</a:t>
            </a:r>
          </a:p>
          <a:p>
            <a:r>
              <a:rPr dirty="0"/>
              <a:t>2. Multiple Linear Regression — Multiple inputs</a:t>
            </a:r>
          </a:p>
          <a:p>
            <a:r>
              <a:rPr dirty="0"/>
              <a:t>3. Polynomial Regression — Curved fit</a:t>
            </a:r>
          </a:p>
          <a:p>
            <a:r>
              <a:rPr dirty="0"/>
              <a:t>4. Ridge Regression — L2 regularization</a:t>
            </a:r>
          </a:p>
          <a:p>
            <a:r>
              <a:rPr dirty="0"/>
              <a:t>5. Lasso Regression — L1 regularization</a:t>
            </a:r>
          </a:p>
          <a:p>
            <a:r>
              <a:rPr dirty="0"/>
              <a:t>6. Elastic Net — Combines Ridge &amp; Lasso</a:t>
            </a:r>
          </a:p>
          <a:p>
            <a:r>
              <a:rPr dirty="0"/>
              <a:t>7. Logistic Regression — For classification</a:t>
            </a:r>
          </a:p>
          <a:p>
            <a:r>
              <a:rPr dirty="0"/>
              <a:t>8. Stepwise, Quantile, SVR, Decision Trees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91737" y="889844"/>
            <a:ext cx="7393258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Regression</a:t>
            </a:r>
            <a:r>
              <a:rPr lang="en-US" dirty="0"/>
              <a:t> is a type of </a:t>
            </a:r>
            <a:r>
              <a:rPr lang="en-US" b="1" dirty="0"/>
              <a:t>supervised machine learning</a:t>
            </a:r>
            <a:r>
              <a:rPr lang="en-US" dirty="0"/>
              <a:t> used to predict a </a:t>
            </a:r>
            <a:r>
              <a:rPr lang="en-US" b="1" dirty="0"/>
              <a:t>continuous numeric value</a:t>
            </a:r>
            <a:r>
              <a:rPr lang="en-US" dirty="0"/>
              <a:t> based on input variables (features).</a:t>
            </a:r>
            <a:br>
              <a:rPr lang="en-US" dirty="0"/>
            </a:br>
            <a:r>
              <a:rPr lang="en-US" dirty="0"/>
              <a:t>It finds patterns or relationships between </a:t>
            </a:r>
            <a:r>
              <a:rPr lang="en-US" b="1" dirty="0"/>
              <a:t>independent variables (X)</a:t>
            </a:r>
            <a:r>
              <a:rPr lang="en-US" dirty="0"/>
              <a:t> and a </a:t>
            </a:r>
            <a:r>
              <a:rPr lang="en-US" b="1" dirty="0"/>
              <a:t>dependent variable (Y)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Predicting </a:t>
            </a:r>
            <a:r>
              <a:rPr lang="en-US" b="1" dirty="0"/>
              <a:t>house prices</a:t>
            </a:r>
            <a:r>
              <a:rPr lang="en-US" dirty="0"/>
              <a:t> from area, rooms, and location.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Estimating </a:t>
            </a:r>
            <a:r>
              <a:rPr lang="en-US" b="1" dirty="0"/>
              <a:t>sales</a:t>
            </a:r>
            <a:r>
              <a:rPr lang="en-US" dirty="0"/>
              <a:t> from advertising spend and season.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Forecasting </a:t>
            </a:r>
            <a:r>
              <a:rPr lang="en-US" b="1" dirty="0"/>
              <a:t>temperature</a:t>
            </a:r>
            <a:r>
              <a:rPr lang="en-US" dirty="0"/>
              <a:t>, </a:t>
            </a:r>
            <a:r>
              <a:rPr lang="en-US" b="1" dirty="0"/>
              <a:t>salary</a:t>
            </a:r>
            <a:r>
              <a:rPr lang="en-US" dirty="0"/>
              <a:t>, or </a:t>
            </a:r>
            <a:r>
              <a:rPr lang="en-US" b="1" dirty="0"/>
              <a:t>stock prices</a:t>
            </a:r>
            <a:r>
              <a:rPr lang="en-US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Regression is used for: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Forecasting</a:t>
            </a:r>
            <a:r>
              <a:rPr lang="en-US" dirty="0"/>
              <a:t> (sales, demand, stock price, etc.)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Optimization</a:t>
            </a:r>
            <a:r>
              <a:rPr lang="en-US" dirty="0"/>
              <a:t> (marketing spend vs ROI)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Trend analysis</a:t>
            </a:r>
            <a:r>
              <a:rPr lang="en-US" dirty="0"/>
              <a:t> (how one factor affects another)</a:t>
            </a:r>
          </a:p>
        </p:txBody>
      </p:sp>
    </p:spTree>
    <p:extLst>
      <p:ext uri="{BB962C8B-B14F-4D97-AF65-F5344CB8AC3E}">
        <p14:creationId xmlns:p14="http://schemas.microsoft.com/office/powerpoint/2010/main" val="351413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63180"/>
              </p:ext>
            </p:extLst>
          </p:nvPr>
        </p:nvGraphicFramePr>
        <p:xfrm>
          <a:off x="754380" y="834384"/>
          <a:ext cx="7520940" cy="5017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35914">
                  <a:extLst>
                    <a:ext uri="{9D8B030D-6E8A-4147-A177-3AD203B41FA5}">
                      <a16:colId xmlns:a16="http://schemas.microsoft.com/office/drawing/2014/main" val="2683310425"/>
                    </a:ext>
                  </a:extLst>
                </a:gridCol>
                <a:gridCol w="4085026">
                  <a:extLst>
                    <a:ext uri="{9D8B030D-6E8A-4147-A177-3AD203B41FA5}">
                      <a16:colId xmlns:a16="http://schemas.microsoft.com/office/drawing/2014/main" val="1830470992"/>
                    </a:ext>
                  </a:extLst>
                </a:gridCol>
              </a:tblGrid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Type of Regression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effectLst/>
                        </a:rPr>
                        <a:t>Example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8257666"/>
                  </a:ext>
                </a:extLst>
              </a:tr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1. Linear Regression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Predicting house price by area.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3537039"/>
                  </a:ext>
                </a:extLst>
              </a:tr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2. Multiple Linear Regression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Predicting car price by age, mileage, brand.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6956060"/>
                  </a:ext>
                </a:extLst>
              </a:tr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3. Polynomial Regression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Modeling population growth.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17245723"/>
                  </a:ext>
                </a:extLst>
              </a:tr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4. Ridge Regression (L2)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Predicting sales with many ads metrics.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5992550"/>
                  </a:ext>
                </a:extLst>
              </a:tr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5. Lasso Regression (L1)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Simplifying credit risk model.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69892378"/>
                  </a:ext>
                </a:extLst>
              </a:tr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6. Elastic Net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Text or gene data regression.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89135202"/>
                  </a:ext>
                </a:extLst>
              </a:tr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7. Logistic Regression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Will customer buy? (0/1).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5675127"/>
                  </a:ext>
                </a:extLst>
              </a:tr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8. Stepwise Regression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Marketing factor selection.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66306604"/>
                  </a:ext>
                </a:extLst>
              </a:tr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9. Quantile Regression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Predicting median house prices.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2671078"/>
                  </a:ext>
                </a:extLst>
              </a:tr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10. SVR (Support Vector Regression)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Predicting stock returns.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1182372"/>
                  </a:ext>
                </a:extLst>
              </a:tr>
              <a:tr h="41814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11. Decision Tree Regression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Predict electricity usage.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2939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18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Classification predicts categories from input features.</a:t>
            </a:r>
          </a:p>
          <a:p>
            <a:endParaRPr dirty="0"/>
          </a:p>
          <a:p>
            <a:r>
              <a:rPr dirty="0"/>
              <a:t>Types:</a:t>
            </a:r>
          </a:p>
          <a:p>
            <a:r>
              <a:rPr dirty="0"/>
              <a:t>• Binary: Spam/Not Spam</a:t>
            </a:r>
          </a:p>
          <a:p>
            <a:r>
              <a:rPr dirty="0"/>
              <a:t>• Multiclass: Cat/Dog/Bird</a:t>
            </a:r>
          </a:p>
          <a:p>
            <a:r>
              <a:rPr dirty="0"/>
              <a:t>• </a:t>
            </a:r>
            <a:r>
              <a:rPr dirty="0" err="1"/>
              <a:t>Multilabel</a:t>
            </a:r>
            <a:r>
              <a:rPr dirty="0"/>
              <a:t>: Sports &amp; Politics</a:t>
            </a:r>
          </a:p>
          <a:p>
            <a:r>
              <a:rPr dirty="0"/>
              <a:t>• Ordinal: Poor–Average–Good–Excellent</a:t>
            </a:r>
          </a:p>
          <a:p>
            <a:r>
              <a:rPr dirty="0"/>
              <a:t>• Imbalanced: Fraud detection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478" y="1099829"/>
            <a:ext cx="8229600" cy="1143000"/>
          </a:xfrm>
        </p:spPr>
        <p:txBody>
          <a:bodyPr/>
          <a:lstStyle/>
          <a:p>
            <a:r>
              <a:rPr dirty="0"/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just"/>
            <a:r>
              <a:rPr sz="4500" dirty="0"/>
              <a:t>Unsupervised learning finds hidden patterns in unlabeled data.</a:t>
            </a:r>
            <a:endParaRPr lang="en-US" sz="4500" dirty="0"/>
          </a:p>
          <a:p>
            <a:pPr marL="400050" lvl="1" indent="0" algn="just">
              <a:buNone/>
            </a:pPr>
            <a:r>
              <a:rPr lang="en-US" sz="4000" dirty="0"/>
              <a:t>Now, there’s </a:t>
            </a:r>
            <a:r>
              <a:rPr lang="en-US" sz="4000" b="1" dirty="0"/>
              <a:t>no teacher</a:t>
            </a:r>
            <a:r>
              <a:rPr lang="en-US" sz="4000" dirty="0"/>
              <a:t> — we give the machine data </a:t>
            </a:r>
            <a:r>
              <a:rPr lang="en-US" sz="4000" b="1" dirty="0"/>
              <a:t>without answers</a:t>
            </a:r>
            <a:r>
              <a:rPr lang="en-US" sz="4000" dirty="0"/>
              <a:t>,</a:t>
            </a:r>
          </a:p>
          <a:p>
            <a:pPr marL="400050" lvl="1" indent="0" algn="just">
              <a:buNone/>
            </a:pPr>
            <a:r>
              <a:rPr lang="en-US" sz="4000" dirty="0"/>
              <a:t>and it tries to find </a:t>
            </a:r>
            <a:r>
              <a:rPr lang="en-US" sz="4000" b="1" dirty="0"/>
              <a:t>hidden patterns</a:t>
            </a:r>
            <a:r>
              <a:rPr lang="en-US" sz="4000" dirty="0"/>
              <a:t> or </a:t>
            </a:r>
            <a:r>
              <a:rPr lang="en-US" sz="4000" b="1" dirty="0"/>
              <a:t>natural groups</a:t>
            </a:r>
            <a:r>
              <a:rPr lang="en-US" sz="4000" dirty="0"/>
              <a:t> on its own</a:t>
            </a:r>
            <a:r>
              <a:rPr lang="en-US" sz="2900" dirty="0"/>
              <a:t>.</a:t>
            </a:r>
            <a:endParaRPr sz="29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sz="3800" dirty="0"/>
              <a:t>Types:</a:t>
            </a:r>
          </a:p>
          <a:p>
            <a:r>
              <a:rPr sz="3800" dirty="0"/>
              <a:t>Clustering — Groups similar items</a:t>
            </a:r>
          </a:p>
          <a:p>
            <a:r>
              <a:rPr sz="3800" dirty="0"/>
              <a:t>Dimensionality Reduction — Simplifies features (e.g., PCA)</a:t>
            </a:r>
          </a:p>
          <a:p>
            <a:r>
              <a:rPr sz="3800" dirty="0"/>
              <a:t>Association Rule Learning — Finds relationships</a:t>
            </a:r>
          </a:p>
          <a:p>
            <a:r>
              <a:rPr sz="3800" dirty="0"/>
              <a:t>Anomaly Detection — Finds outliers</a:t>
            </a:r>
          </a:p>
          <a:p>
            <a:r>
              <a:rPr sz="3800" dirty="0"/>
              <a:t>Auto</a:t>
            </a:r>
            <a:r>
              <a:rPr lang="en-US" sz="3800" dirty="0"/>
              <a:t> E</a:t>
            </a:r>
            <a:r>
              <a:rPr sz="3800" dirty="0"/>
              <a:t>ncoders — Compress &amp; reconstruct data</a:t>
            </a:r>
          </a:p>
          <a:p>
            <a:r>
              <a:rPr sz="3800" dirty="0"/>
              <a:t>Density Estimation — Learns data distribution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21FDB44-C80E-AE31-5138-9E0445426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(RL)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808BC-173F-2402-B125-958B1808EA6B}"/>
              </a:ext>
            </a:extLst>
          </p:cNvPr>
          <p:cNvSpPr txBox="1"/>
          <p:nvPr/>
        </p:nvSpPr>
        <p:spPr>
          <a:xfrm>
            <a:off x="1312606" y="2551837"/>
            <a:ext cx="61943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It’s just like </a:t>
            </a:r>
            <a:r>
              <a:rPr lang="en-US" b="1" dirty="0"/>
              <a:t>how humans or animals learn</a:t>
            </a:r>
            <a:r>
              <a:rPr lang="en-US" dirty="0"/>
              <a:t> — by </a:t>
            </a:r>
            <a:r>
              <a:rPr lang="en-US" b="1" dirty="0"/>
              <a:t>trial and error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an action gives a </a:t>
            </a:r>
            <a:r>
              <a:rPr lang="en-US" b="1" dirty="0"/>
              <a:t>reward</a:t>
            </a:r>
            <a:r>
              <a:rPr lang="en-US" dirty="0"/>
              <a:t>, the agent will </a:t>
            </a:r>
            <a:r>
              <a:rPr lang="en-US" b="1" dirty="0"/>
              <a:t>repeat</a:t>
            </a:r>
            <a:r>
              <a:rPr lang="en-US" dirty="0"/>
              <a:t> that action.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it gives a </a:t>
            </a:r>
            <a:r>
              <a:rPr lang="en-US" b="1" dirty="0"/>
              <a:t>punishment (negative reward)</a:t>
            </a:r>
            <a:r>
              <a:rPr lang="en-US" dirty="0"/>
              <a:t>, the agent will </a:t>
            </a:r>
            <a:r>
              <a:rPr lang="en-US" b="1" dirty="0"/>
              <a:t>avoid</a:t>
            </a:r>
            <a:r>
              <a:rPr lang="en-US" dirty="0"/>
              <a:t> it next time.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F4488D-1608-0884-CFA3-82BA5C110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65" y="3920142"/>
            <a:ext cx="6330064" cy="224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57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Algorithms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7096" y="2490788"/>
            <a:ext cx="4997745" cy="344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4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6341" y="2453268"/>
            <a:ext cx="7593981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1. Define the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Clearly state what you want to predict or discover.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whether it’s: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Supervised learning</a:t>
            </a:r>
            <a:r>
              <a:rPr lang="en-US" dirty="0"/>
              <a:t> (known labels → regression/classification)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Unsupervised learning</a:t>
            </a:r>
            <a:r>
              <a:rPr lang="en-US" dirty="0"/>
              <a:t> (no labels → clustering/dimensionality reduction)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Reinforcement learning</a:t>
            </a:r>
            <a:r>
              <a:rPr lang="en-US" dirty="0"/>
              <a:t> (learn from reward/punishment)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i="1" dirty="0"/>
              <a:t>Example:</a:t>
            </a:r>
            <a:r>
              <a:rPr lang="en-US" dirty="0"/>
              <a:t> Predict house prices (regression), classify spam emails (classification), or group customers (clustering).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23746" y="915337"/>
            <a:ext cx="7895063" cy="1303867"/>
          </a:xfrm>
        </p:spPr>
        <p:txBody>
          <a:bodyPr>
            <a:normAutofit/>
          </a:bodyPr>
          <a:lstStyle/>
          <a:p>
            <a:r>
              <a:rPr lang="en-US" sz="2700" b="1" dirty="0"/>
              <a:t>General Flow for Any Machine Learning Project</a:t>
            </a:r>
            <a:br>
              <a:rPr lang="en-US" b="1" dirty="0"/>
            </a:br>
            <a:r>
              <a:rPr lang="en-US" sz="1600" dirty="0"/>
              <a:t>Problem → Data → Clean → Split → Model → Train → Predict → Evaluate → Tune → Deploy → Monitor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2164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12241" y="1080998"/>
            <a:ext cx="669289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</a:rPr>
              <a:t>2. Collect &amp; Load Data </a:t>
            </a:r>
          </a:p>
          <a:p>
            <a:pPr algn="ctr"/>
            <a:endParaRPr lang="en-US" b="1" dirty="0">
              <a:latin typeface="+mj-lt"/>
            </a:endParaRP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Gather data from databases, files, APIs, or sensors.</a:t>
            </a: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Load into pandas (Python) or </a:t>
            </a:r>
            <a:r>
              <a:rPr lang="en-US" altLang="en-US" dirty="0" err="1">
                <a:latin typeface="+mj-lt"/>
              </a:rPr>
              <a:t>IDataView</a:t>
            </a:r>
            <a:r>
              <a:rPr lang="en-US" altLang="en-US" dirty="0">
                <a:latin typeface="+mj-lt"/>
              </a:rPr>
              <a:t> (ML.NET).</a:t>
            </a:r>
          </a:p>
          <a:p>
            <a:pPr marL="342900" indent="-3429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</a:rPr>
              <a:t>Ensure data is sufficient and relevant.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8467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399" y="1237785"/>
            <a:ext cx="692490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3. Explore and Understand the Data (EDA)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/>
              <a:t>Summarize dataset (shape, mean, median, unique values).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/>
              <a:t>Visualize with histograms, scatter plots, and </a:t>
            </a:r>
            <a:r>
              <a:rPr lang="en-US" dirty="0" err="1"/>
              <a:t>heatmaps</a:t>
            </a:r>
            <a:r>
              <a:rPr lang="en-US" dirty="0"/>
              <a:t>.</a:t>
            </a:r>
          </a:p>
          <a:p>
            <a:pPr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Detect patterns, relationships, outliers, and data imbalance.</a:t>
            </a:r>
          </a:p>
          <a:p>
            <a:pPr>
              <a:lnSpc>
                <a:spcPct val="300000"/>
              </a:lnSpc>
            </a:pPr>
            <a:r>
              <a:rPr lang="en-DE" dirty="0"/>
              <a:t>📊 </a:t>
            </a:r>
            <a:r>
              <a:rPr lang="en-US" i="1" dirty="0"/>
              <a:t>Tools:</a:t>
            </a:r>
            <a:r>
              <a:rPr lang="en-US" dirty="0"/>
              <a:t> </a:t>
            </a:r>
            <a:r>
              <a:rPr lang="en-US" dirty="0" err="1"/>
              <a:t>matplotlib</a:t>
            </a:r>
            <a:r>
              <a:rPr lang="en-US" dirty="0"/>
              <a:t>, </a:t>
            </a:r>
            <a:r>
              <a:rPr lang="en-US" dirty="0" err="1"/>
              <a:t>seaborn</a:t>
            </a:r>
            <a:r>
              <a:rPr lang="en-US" dirty="0"/>
              <a:t>, pandas profiling, ML.NET Data Preview</a:t>
            </a:r>
          </a:p>
        </p:txBody>
      </p:sp>
    </p:spTree>
    <p:extLst>
      <p:ext uri="{BB962C8B-B14F-4D97-AF65-F5344CB8AC3E}">
        <p14:creationId xmlns:p14="http://schemas.microsoft.com/office/powerpoint/2010/main" val="2250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13317" y="678186"/>
            <a:ext cx="7660888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4. Clean &amp; Preprocess Data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+mj-lt"/>
              </a:rPr>
              <a:t>Handle missing values (</a:t>
            </a:r>
            <a:r>
              <a:rPr lang="en-US" altLang="en-US" dirty="0" err="1">
                <a:latin typeface="+mj-lt"/>
              </a:rPr>
              <a:t>fillna</a:t>
            </a:r>
            <a:r>
              <a:rPr lang="en-US" altLang="en-US" dirty="0">
                <a:latin typeface="+mj-lt"/>
              </a:rPr>
              <a:t>(), imputation).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+mj-lt"/>
              </a:rPr>
              <a:t>Remove duplicates, fix inconsistent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formatting.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Encode categorical features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LabelEncoder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OneHotEncoder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Scale/normalize numeric values.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Split features (X) and target (y)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💡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Convert messy raw data into clean, numeric, model-ready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227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1374" y="874470"/>
            <a:ext cx="6969513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/>
              <a:t>5. Split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Divide dataset into: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Training set</a:t>
            </a:r>
            <a:r>
              <a:rPr lang="en-US" dirty="0"/>
              <a:t> → to learn (70–80%)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Validation set</a:t>
            </a:r>
            <a:r>
              <a:rPr lang="en-US" dirty="0"/>
              <a:t> → to tune </a:t>
            </a:r>
            <a:r>
              <a:rPr lang="en-US" dirty="0" err="1"/>
              <a:t>hyperparameters</a:t>
            </a:r>
            <a:r>
              <a:rPr lang="en-US" dirty="0"/>
              <a:t> (10–15%)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Test set</a:t>
            </a:r>
            <a:r>
              <a:rPr lang="en-US" dirty="0"/>
              <a:t> → to evaluate final performance (10–15%)</a:t>
            </a:r>
          </a:p>
        </p:txBody>
      </p:sp>
    </p:spTree>
    <p:extLst>
      <p:ext uri="{BB962C8B-B14F-4D97-AF65-F5344CB8AC3E}">
        <p14:creationId xmlns:p14="http://schemas.microsoft.com/office/powerpoint/2010/main" val="424250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91737" y="528546"/>
            <a:ext cx="7326351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6. Select and Build Model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Choose suitable algorithm for your problem type: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Regression → Linear, Ridge,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RandomForestRegressor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Classification → Logistic,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DecisionTree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SVM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Clustering →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KMeans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DBSCAN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NLP → Transformer, Naive Bayes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Image → CNN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 ML.NET: choose trainer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SdcaRegressionTrainer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FastTree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etc.)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3148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37423" y="1075214"/>
            <a:ext cx="5307981" cy="3446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7. Train Model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Fit the model on training data.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Learn relationships or patterns.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model.fit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X_train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y_train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863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02527" y="857065"/>
            <a:ext cx="6936058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8. Predict (Inference Phase)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the trained model to make predictions on test/unseen data.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Compare predicted vs actual results.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📘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y_pred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model.predict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X_test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150018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3249" y="1209007"/>
            <a:ext cx="66795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9. Evaluate Model Performance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Choose metric based on task: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Regression → RMSE, MAE, R² 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Classification → Accuracy, Precision, Recall, F1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Clustering → Silhouette Score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Analyze confusion matrix or residuals.</a:t>
            </a:r>
          </a:p>
        </p:txBody>
      </p:sp>
    </p:spTree>
    <p:extLst>
      <p:ext uri="{BB962C8B-B14F-4D97-AF65-F5344CB8AC3E}">
        <p14:creationId xmlns:p14="http://schemas.microsoft.com/office/powerpoint/2010/main" val="183973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68" y="1061707"/>
            <a:ext cx="6897063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443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00" y="1176023"/>
            <a:ext cx="6439799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914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vs C#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Python:</a:t>
            </a:r>
          </a:p>
          <a:p>
            <a:r>
              <a:t>• Rich ML ecosystem (scikit-learn, PyTorch)</a:t>
            </a:r>
          </a:p>
          <a:p>
            <a:r>
              <a:t>• Easy data handling (pandas, matplotlib)</a:t>
            </a:r>
          </a:p>
          <a:p>
            <a:r>
              <a:t>• Ideal for EDA and learning</a:t>
            </a:r>
          </a:p>
          <a:p>
            <a:r>
              <a:t>• Industry standard for ML</a:t>
            </a:r>
          </a:p>
          <a:p>
            <a:endParaRPr/>
          </a:p>
          <a:p>
            <a:r>
              <a:t>C#:</a:t>
            </a:r>
          </a:p>
          <a:p>
            <a:r>
              <a:t>• Good for production integration</a:t>
            </a:r>
          </a:p>
          <a:p>
            <a:r>
              <a:t>• ML.NET, LightGBM support</a:t>
            </a:r>
          </a:p>
          <a:p>
            <a:r>
              <a:t>• Can use ONNX models from Python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Choose Python for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Richest ML ecosystem</a:t>
            </a:r>
          </a:p>
          <a:p>
            <a:r>
              <a:rPr dirty="0"/>
              <a:t>Fastest learning curve</a:t>
            </a:r>
          </a:p>
          <a:p>
            <a:r>
              <a:rPr dirty="0"/>
              <a:t>Industry standard for ML</a:t>
            </a:r>
          </a:p>
          <a:p>
            <a:r>
              <a:rPr dirty="0"/>
              <a:t>Superior visualization tools</a:t>
            </a:r>
          </a:p>
          <a:p>
            <a:r>
              <a:rPr dirty="0"/>
              <a:t>Easy integration with .NET via ONNX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Popular ML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 err="1"/>
              <a:t>scikit</a:t>
            </a:r>
            <a:r>
              <a:rPr dirty="0"/>
              <a:t>-learn — Classical ML</a:t>
            </a:r>
          </a:p>
          <a:p>
            <a:r>
              <a:rPr dirty="0" err="1"/>
              <a:t>TensorFlow</a:t>
            </a:r>
            <a:r>
              <a:rPr dirty="0"/>
              <a:t> / </a:t>
            </a:r>
            <a:r>
              <a:rPr dirty="0" err="1"/>
              <a:t>Keras</a:t>
            </a:r>
            <a:r>
              <a:rPr dirty="0"/>
              <a:t> — Deep learning</a:t>
            </a:r>
          </a:p>
          <a:p>
            <a:r>
              <a:rPr dirty="0" err="1"/>
              <a:t>PyTorch</a:t>
            </a:r>
            <a:r>
              <a:rPr dirty="0"/>
              <a:t> — Dynamic deep learning</a:t>
            </a:r>
          </a:p>
          <a:p>
            <a:r>
              <a:rPr dirty="0" err="1"/>
              <a:t>LightGBM</a:t>
            </a:r>
            <a:r>
              <a:rPr dirty="0"/>
              <a:t> / </a:t>
            </a:r>
            <a:r>
              <a:rPr dirty="0" err="1"/>
              <a:t>XGBoost</a:t>
            </a:r>
            <a:r>
              <a:rPr dirty="0"/>
              <a:t> / </a:t>
            </a:r>
            <a:r>
              <a:rPr dirty="0" err="1"/>
              <a:t>CatBoost</a:t>
            </a:r>
            <a:r>
              <a:rPr dirty="0"/>
              <a:t> — Gradient boosting</a:t>
            </a:r>
          </a:p>
          <a:p>
            <a:r>
              <a:rPr dirty="0" err="1"/>
              <a:t>spaCy</a:t>
            </a:r>
            <a:r>
              <a:rPr dirty="0"/>
              <a:t> / Transformers — NLP</a:t>
            </a:r>
          </a:p>
          <a:p>
            <a:endParaRPr dirty="0"/>
          </a:p>
          <a:p>
            <a:r>
              <a:rPr dirty="0"/>
              <a:t>These libraries cover most ML workflows from data prep to modeling.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298</TotalTime>
  <Words>1210</Words>
  <Application>Microsoft Office PowerPoint</Application>
  <PresentationFormat>On-screen Show (4:3)</PresentationFormat>
  <Paragraphs>176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Garamond</vt:lpstr>
      <vt:lpstr>Organic</vt:lpstr>
      <vt:lpstr>Machine Learning</vt:lpstr>
      <vt:lpstr>More Real World Examples</vt:lpstr>
      <vt:lpstr>Main Types of ML</vt:lpstr>
      <vt:lpstr>Regression Types</vt:lpstr>
      <vt:lpstr>PowerPoint Presentation</vt:lpstr>
      <vt:lpstr>PowerPoint Presentation</vt:lpstr>
      <vt:lpstr>Classification</vt:lpstr>
      <vt:lpstr>Unsupervised Learning</vt:lpstr>
      <vt:lpstr>Reinforcement Learning (RL)</vt:lpstr>
      <vt:lpstr>Main Algorithms</vt:lpstr>
      <vt:lpstr>General Flow for Any Machine Learning Project Problem → Data → Clean → Split → Model → Train → Predict → Evaluate → Tune → Deploy → Monitor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Python vs C#</vt:lpstr>
      <vt:lpstr>Why Choose Python for ML</vt:lpstr>
      <vt:lpstr>Popular ML Libraries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subject/>
  <dc:creator>zali</dc:creator>
  <cp:keywords/>
  <dc:description>generated using python-pptx</dc:description>
  <cp:lastModifiedBy>Zeeshan Ali</cp:lastModifiedBy>
  <cp:revision>20</cp:revision>
  <dcterms:created xsi:type="dcterms:W3CDTF">2013-01-27T09:14:16Z</dcterms:created>
  <dcterms:modified xsi:type="dcterms:W3CDTF">2025-12-18T10:08:27Z</dcterms:modified>
  <cp:category/>
</cp:coreProperties>
</file>